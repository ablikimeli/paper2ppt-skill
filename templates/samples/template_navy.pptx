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-914400"/>
            <a:ext cx="3657600" cy="3657600"/>
          </a:xfrm>
          <a:prstGeom prst="ellipse">
            <a:avLst/>
          </a:prstGeom>
          <a:solidFill>
            <a:srgbClr val="2B5A8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772400" y="2377440"/>
            <a:ext cx="365760" cy="365760"/>
          </a:xfrm>
          <a:prstGeom prst="ellipse">
            <a:avLst/>
          </a:prstGeom>
          <a:solidFill>
            <a:srgbClr val="C9A84C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2B5A8A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114800"/>
            <a:ext cx="914400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572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C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  ·  Journal Club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Cost-effectiveness of Latent Tuberculosis Infection Testing and Preventive Treatment Among TB Contacts in China: A Markov Model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731520" y="2926080"/>
            <a:ext cx="137160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154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C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G. Kucsko, J. Smith, L. Wang, et al.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352044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BMC Health Services Research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January 15, 2026  |  26(1):45-58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IF: 2.8  |  JCR: Q1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DOI: 10.1186/s12913-026-14482-6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466344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 Presentation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137160"/>
            <a:ext cx="320040" cy="320040"/>
          </a:xfrm>
          <a:prstGeom prst="ellipse">
            <a:avLst/>
          </a:prstGeom>
          <a:solidFill>
            <a:srgbClr val="C9A84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57200"/>
            <a:ext cx="54864" cy="4206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828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3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LTBI screening is cost-effective in the Chinese healthcare context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822960"/>
            <a:ext cx="8046720" cy="18288"/>
          </a:xfrm>
          <a:prstGeom prst="rect">
            <a:avLst/>
          </a:prstGeom>
          <a:solidFill>
            <a:srgbClr val="D1D5DB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051560"/>
            <a:ext cx="83210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 remains a major public health challenge in China with high latent infection rates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screening and preventive treatment coverage is suboptimal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evidence on cost-effectiveness from Chinese healthcare system perspective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study evaluates three testing strategies using a Markov model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3200400"/>
            <a:ext cx="8412480" cy="685800"/>
          </a:xfrm>
          <a:prstGeom prst="roundRect">
            <a:avLst>
              <a:gd name="adj" fmla="val 8000"/>
            </a:avLst>
          </a:prstGeom>
          <a:solidFill>
            <a:srgbClr val="F8F6F0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3200400"/>
            <a:ext cx="54864" cy="6858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0" y="3337560"/>
            <a:ext cx="182880" cy="182880"/>
          </a:xfrm>
          <a:prstGeom prst="ellipse">
            <a:avLst/>
          </a:prstGeom>
          <a:solidFill>
            <a:srgbClr val="2B5A8A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3246120"/>
            <a:ext cx="7772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Finding: IGRA-based strategy dominated TST across all WTP thresholds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3200400"/>
            <a:ext cx="3200400" cy="3200400"/>
          </a:xfrm>
          <a:prstGeom prst="ellipse">
            <a:avLst/>
          </a:prstGeom>
          <a:solidFill>
            <a:srgbClr val="2B5A8A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 of Contents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&amp; Objectives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 &amp; Materials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&amp; Conclusion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Inspirations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Literature Review - Navy</dc:title>
  <dc:subject>PptxGenJS Presentation</dc:subject>
  <dc:creator>paper2ppt</dc:creator>
  <cp:lastModifiedBy>paper2ppt</cp:lastModifiedBy>
  <cp:revision>1</cp:revision>
  <dcterms:created xsi:type="dcterms:W3CDTF">2026-05-14T21:42:31Z</dcterms:created>
  <dcterms:modified xsi:type="dcterms:W3CDTF">2026-05-14T21:42:31Z</dcterms:modified>
</cp:coreProperties>
</file>